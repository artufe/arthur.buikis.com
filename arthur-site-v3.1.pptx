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0000" b="0" i="0">
                <a:solidFill>
                  <a:srgbClr val="262420"/>
                </a:solidFill>
                <a:latin typeface="Times New Roman"/>
              </a:rPr>
              <a:t>Arthur
Buikis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600" b="0" i="0">
                <a:solidFill>
                  <a:srgbClr val="6B665F"/>
                </a:solidFill>
                <a:latin typeface="Courier New"/>
              </a:rPr>
              <a:t>Senior software engineer · Riga, 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200" b="0" i="0">
                <a:solidFill>
                  <a:srgbClr val="6B665F"/>
                </a:solidFill>
                <a:latin typeface="Courier New"/>
              </a:rPr>
              <a:t>Backend and platform engineer. ~12 years in Python with Rust (PyO3) for hot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760720"/>
            <a:ext cx="27432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4200" b="0" i="0">
                <a:solidFill>
                  <a:srgbClr val="262420"/>
                </a:solidFill>
                <a:latin typeface="Times New Roman"/>
              </a:rPr>
              <a:t>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8288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377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0" i="0">
                <a:solidFill>
                  <a:srgbClr val="8F4A30"/>
                </a:solidFill>
                <a:latin typeface="Times New Roman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417320"/>
            <a:ext cx="2377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0" i="0">
                <a:solidFill>
                  <a:srgbClr val="8F4A30"/>
                </a:solidFill>
                <a:latin typeface="Times New Roman"/>
              </a:rPr>
              <a:t>12+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contracts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417320"/>
            <a:ext cx="2377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0" i="0">
                <a:solidFill>
                  <a:srgbClr val="8F4A30"/>
                </a:solidFill>
                <a:latin typeface="Times New Roman"/>
              </a:rPr>
              <a:t>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native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2377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0" i="0">
                <a:solidFill>
                  <a:srgbClr val="8F4A30"/>
                </a:solidFill>
                <a:latin typeface="Times New Roman"/>
              </a:rPr>
              <a:t>Riga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06040"/>
            <a:ext cx="10515600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100" b="0" i="0">
                <a:solidFill>
                  <a:srgbClr val="6B665F"/>
                </a:solidFill>
                <a:latin typeface="Courier New"/>
              </a:rPr>
              <a:t>Based in Riga. Backend / platform engineer with ~12 years shipping data-heavy Python systems, plus Rust (PyO3) where it earns its keep. Currently owning performance and ML-pipeline integration on a Django + Rust platform for 3D virtual tours.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BELIEFS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→  Code that doesn't need rewriting next year &gt; clever code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8736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→  Observability beats tests — prod insight &gt; local passes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8853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→  Most "perf problems" are architecture problems one layer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970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→  Best engineers are boring to watch — they delete more than add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868680"/>
            <a:ext cx="3840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200" b="0" i="0">
                <a:solidFill>
                  <a:srgbClr val="262420"/>
                </a:solidFill>
                <a:latin typeface="Times New Roman"/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13258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15270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17282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typescript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19293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sql/bash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39" y="21305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1">
                <a:solidFill>
                  <a:srgbClr val="6B665F"/>
                </a:solidFill>
                <a:latin typeface="Courier New"/>
              </a:rPr>
              <a:t>Python's native tongue. Rust where it earns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39" y="2359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200" b="0" i="0">
                <a:solidFill>
                  <a:srgbClr val="262420"/>
                </a:solidFill>
                <a:latin typeface="Times New Roman"/>
              </a:rPr>
              <a:t>Platform &amp; Infra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6334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django/drf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8346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30358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celery/rabbitmq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2369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kubernetes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34381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gitlab-ci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39" y="363931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1">
                <a:solidFill>
                  <a:srgbClr val="6B665F"/>
                </a:solidFill>
                <a:latin typeface="Courier New"/>
              </a:rPr>
              <a:t>Boring tech. Intentionally.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39" y="3867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200" b="0" i="0">
                <a:solidFill>
                  <a:srgbClr val="262420"/>
                </a:solidFill>
                <a:latin typeface="Times New Roman"/>
              </a:rPr>
              <a:t>Data &amp;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41422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postgresql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9" y="43434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clickhouse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45445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triton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47457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shadow deploys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9" y="49469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• playwright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39" y="514807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1">
                <a:solidFill>
                  <a:srgbClr val="6B665F"/>
                </a:solidFill>
                <a:latin typeface="Courier New"/>
              </a:rPr>
              <a:t>Mostly plumbing. Models aren't the hard part.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about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02/08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SINCE 2015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3600" b="0" i="0">
                <a:solidFill>
                  <a:srgbClr val="262420"/>
                </a:solidFill>
                <a:latin typeface="Times New Roman"/>
              </a:rPr>
              <a:t>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37360"/>
            <a:ext cx="19050" cy="320040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9180" y="1762760"/>
            <a:ext cx="203200" cy="203200"/>
          </a:xfrm>
          <a:prstGeom prst="rect">
            <a:avLst/>
          </a:prstGeom>
          <a:solidFill>
            <a:srgbClr val="8F4A30"/>
          </a:solidFill>
          <a:ln w="25400">
            <a:solidFill>
              <a:srgbClr val="8F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2024 →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1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Software Developer · Media-processing platform, Riga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9180" y="2311400"/>
            <a:ext cx="203200" cy="20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2021 –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Senior Developer · Strange Logic, Remote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9180" y="2860040"/>
            <a:ext cx="203200" cy="20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09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Scraping Contractor · Lethub, Remote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9180" y="3408680"/>
            <a:ext cx="203200" cy="20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2018 –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5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Developer · Strange Logic, Remote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9180" y="3957320"/>
            <a:ext cx="203200" cy="20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2015 – 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0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Self-taught · Upwork freelance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timeline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03/08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3600" b="0" i="0">
                <a:solidFill>
                  <a:srgbClr val="262420"/>
                </a:solidFill>
                <a:latin typeface="Times New Roman"/>
              </a:rPr>
              <a:t>Curriculum Vitae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7432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Senior backend / platform engineer. ~12 years shipping data-heavy Python systems, Rust where it earns its keep.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10515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2024 → Present · Media-processing platform, Riga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Software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Performance, reliability, ML-pipeline. PyO3/maturin, 30–800× latency cuts, 12+ ML clients integrated.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515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2017 → Present · Upwork, Remote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Freelance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12+ contracts, 100% JSS. Embedded or solo delivery.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515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2018 – 2023 · Strange Logic, Remote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Senior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Two stints. Stripe migration, PHP→Python, ClickHouse, Expired Domain 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LV (Native) · EN (Fluent) · RU (Conversational) · DE (Conversational)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curriculum vitae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04/08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4200" b="0" i="0">
                <a:solidFill>
                  <a:srgbClr val="262420"/>
                </a:solidFill>
                <a:latin typeface="Times New Roman"/>
              </a:rPr>
              <a:t>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3716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product · 2023– ·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MarkFlow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Solo-built social-analytics SaaS. Meta + Google ad APIs. Paying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product · 2020–2022 · sunset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MyProxy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Mobile-phone-as-proxy service. ~20× cost/GB reduction.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535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work · 2018–2023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Expired Domain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Celery pipeline ~700M domains. 43 TB across 12 servers.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535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Scraping, ML, quiet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2 years data infra. 10k→100k records/day.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selected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3200" b="0" i="0">
                <a:solidFill>
                  <a:srgbClr val="262420"/>
                </a:solidFill>
                <a:latin typeface="Times New Roman"/>
              </a:rPr>
              <a:t>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3716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029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2026-04-28 ·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A new place to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Short, opinionated notes on AI/ML in production — cost, latency, failure modes, what works at scale. Not prompt-tip threads, not agent speculation.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3200" b="0" i="0">
                <a:solidFill>
                  <a:srgbClr val="262420"/>
                </a:solidFill>
                <a:latin typeface="Times New Roman"/>
              </a:rPr>
              <a:t>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13716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0292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8F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1363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800" b="0" i="0">
                <a:solidFill>
                  <a:srgbClr val="262420"/>
                </a:solidFill>
                <a:latin typeface="Times New Roman"/>
              </a:rPr>
              <a:t>Product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6B665F"/>
                </a:solidFill>
                <a:latin typeface="Courier New"/>
              </a:rPr>
              <a:t>Quietly building a tool for operators.</a:t>
            </a:r>
          </a:p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6B665F"/>
                </a:solidFill>
                <a:latin typeface="Courier New"/>
              </a:rPr>
              <a:t>Works for me. Not ready externally yet.</a:t>
            </a:r>
          </a:p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6B665F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8F4A30"/>
                </a:solidFill>
                <a:latin typeface="Courier New"/>
              </a:rPr>
              <a:t>→ Make core workflow bulletproof</a:t>
            </a:r>
          </a:p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8F4A30"/>
                </a:solidFill>
                <a:latin typeface="Courier New"/>
              </a:rPr>
              <a:t>→ Small set of early testers</a:t>
            </a:r>
          </a:p>
          <a:p>
            <a:pPr>
              <a:spcBef>
                <a:spcPts val="200"/>
              </a:spcBef>
              <a:defRPr>
                <a:latin typeface="Courier New"/>
              </a:defRPr>
            </a:pPr>
            <a:r>
              <a:rPr sz="900">
                <a:solidFill>
                  <a:srgbClr val="8F4A30"/>
                </a:solidFill>
                <a:latin typeface="Courier New"/>
              </a:rPr>
              <a:t>→ Open when boring in the best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548640"/>
            <a:ext cx="5029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6858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SUBSCRIBE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005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Get notes in your inbox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arthur@buikis.com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51760"/>
            <a:ext cx="5029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7432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ALSO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17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GitHub: Artufe
LinkedIn: arthur-buikis
Upwork: 100% JSS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notes · building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06/08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4200" b="0" i="0">
                <a:solidFill>
                  <a:srgbClr val="262420"/>
                </a:solidFill>
                <a:latin typeface="Times New Roman"/>
              </a:rPr>
              <a:t>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3716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2400" b="0" i="0">
                <a:solidFill>
                  <a:srgbClr val="8F4A30"/>
                </a:solidFill>
                <a:latin typeface="Times New Roman"/>
              </a:rPr>
              <a:t>arthur@buikis.com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Response within 24h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5029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GitHub  →  github.com/Artufe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5029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LinkedIn  →  arthur-buikis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5029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Upwork  →  100% Job Success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48640"/>
            <a:ext cx="5029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6858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8F4A30"/>
                </a:solidFill>
                <a:latin typeface="Courier New"/>
              </a:rPr>
              <a:t>SEND A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0972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280160"/>
            <a:ext cx="4754880" cy="457200"/>
          </a:xfrm>
          <a:prstGeom prst="rect">
            <a:avLst/>
          </a:prstGeom>
          <a:solidFill>
            <a:srgbClr val="F5F3F0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53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your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8745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2057400"/>
            <a:ext cx="4754880" cy="457200"/>
          </a:xfrm>
          <a:prstGeom prst="rect">
            <a:avLst/>
          </a:prstGeom>
          <a:solidFill>
            <a:srgbClr val="F5F3F0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30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your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5176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6B665F"/>
                </a:solidFill>
                <a:latin typeface="Courier New"/>
              </a:rPr>
              <a:t>message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834640"/>
            <a:ext cx="4754880" cy="1097280"/>
          </a:xfrm>
          <a:prstGeom prst="rect">
            <a:avLst/>
          </a:prstGeom>
          <a:solidFill>
            <a:srgbClr val="F5F3F0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907792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900" b="0" i="0">
                <a:solidFill>
                  <a:srgbClr val="6B665F"/>
                </a:solidFill>
                <a:latin typeface="Courier New"/>
              </a:rPr>
              <a:t>your 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4069080"/>
            <a:ext cx="2286000" cy="457200"/>
          </a:xfrm>
          <a:prstGeom prst="rect">
            <a:avLst/>
          </a:prstGeom>
          <a:solidFill>
            <a:srgbClr val="262420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42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Courier New"/>
              </a:defRPr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SEND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07/08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3400" b="0" i="0">
                <a:solidFill>
                  <a:srgbClr val="262420"/>
                </a:solidFill>
                <a:latin typeface="Times New Roman"/>
              </a:rPr>
              <a:t>AI &amp; ML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25400"/>
          </a:xfrm>
          <a:prstGeom prst="rect">
            <a:avLst/>
          </a:prstGeom>
          <a:solidFill>
            <a:srgbClr val="8F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1000" b="0" i="0">
                <a:solidFill>
                  <a:srgbClr val="6B665F"/>
                </a:solidFill>
                <a:latin typeface="Courier New"/>
              </a:rPr>
              <a:t>Short, opinionated notes on the unglamorous side: cost, latency, failure modes. The senior engineer's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6858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Why most AI demos don't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Jupyter notebook to production = cost, latency, and the ten systems around the model that must never break.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6858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ML pipeline integration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Shadow deploys, safe rollouts, feature flags for models. 12+ ML clients into one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6858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7939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600" b="0" i="0">
                <a:solidFill>
                  <a:srgbClr val="262420"/>
                </a:solidFill>
                <a:latin typeface="Times New Roman"/>
              </a:rPr>
              <a:t>PyO3 in production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537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When Rust earns its keep in a Python ML stack. Graph reads, ETA engine, releasing the GIL.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48640"/>
            <a:ext cx="34747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6217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CURRENTLY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868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400" b="0" i="0">
                <a:solidFill>
                  <a:srgbClr val="262420"/>
                </a:solidFill>
                <a:latin typeface="Times New Roman"/>
              </a:rPr>
              <a:t>Production ML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234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Integrating ML: pano enhancement, sky replacement, monodepth, POI detection. Each touches job schema, graph engine, k8s.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51760"/>
            <a:ext cx="34747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7249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700" b="0" i="0">
                <a:solidFill>
                  <a:srgbClr val="8F4A30"/>
                </a:solidFill>
                <a:latin typeface="Courier New"/>
              </a:rPr>
              <a:t>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71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Courier New"/>
              </a:defRPr>
            </a:pPr>
            <a:r>
              <a:rPr sz="1000">
                <a:solidFill>
                  <a:srgbClr val="6B665F"/>
                </a:solidFill>
                <a:latin typeface="Courier New"/>
              </a:rPr>
              <a:t>Triton Inference Server
Shadow deploys · rollouts
Postgres · ClickHouse
Kubernetes · Kueue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6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ab. · arthur buikis · ai/ml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Courier New"/>
              </a:defRPr>
            </a:pPr>
            <a:r>
              <a:rPr sz="800" b="0" i="0">
                <a:solidFill>
                  <a:srgbClr val="6B665F"/>
                </a:solidFill>
                <a:latin typeface="Courier New"/>
              </a:rPr>
              <a:t>08/08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